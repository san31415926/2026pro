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custDataLst>
    <p:tags r:id="rId2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6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讲法很简单：为什么做这个系统，它解决了什么问题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一句话总结：前端 Vue，后端 Flask，数据库 MySQL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这页的重点是说明：系统最基本的商城购物流程已经实现完成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前面几页设计内容可以最后收束成这三点，这样老师更容易记住你的项目特点。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tags" Target="../tags/tag10.xml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tags" Target="../tags/tag13.xml"/><Relationship Id="rId4" Type="http://schemas.openxmlformats.org/officeDocument/2006/relationships/image" Target="../media/image12.png"/><Relationship Id="rId3" Type="http://schemas.openxmlformats.org/officeDocument/2006/relationships/tags" Target="../tags/tag12.xml"/><Relationship Id="rId2" Type="http://schemas.openxmlformats.org/officeDocument/2006/relationships/image" Target="../media/image11.pn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tags" Target="../tags/tag15.xml"/><Relationship Id="rId2" Type="http://schemas.openxmlformats.org/officeDocument/2006/relationships/image" Target="../media/image14.png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7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4458D8"/>
          </a:solidFill>
          <a:ln w="12700">
            <a:solidFill>
              <a:srgbClr val="445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822960"/>
            <a:ext cx="4206240" cy="2834640"/>
          </a:xfrm>
          <a:prstGeom prst="ellipse">
            <a:avLst/>
          </a:prstGeom>
          <a:solidFill>
            <a:srgbClr val="FFFFFF">
              <a:alpha val="8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-502920"/>
            <a:ext cx="3108960" cy="2194560"/>
          </a:xfrm>
          <a:prstGeom prst="ellipse">
            <a:avLst/>
          </a:prstGeom>
          <a:solidFill>
            <a:srgbClr val="EAF7FB">
              <a:alpha val="74000"/>
            </a:srgbClr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3840480"/>
            <a:ext cx="3383280" cy="1920240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4160520"/>
            <a:ext cx="2743200" cy="1417320"/>
          </a:xfrm>
          <a:prstGeom prst="ellipse">
            <a:avLst/>
          </a:prstGeom>
          <a:solidFill>
            <a:srgbClr val="EAF7FB">
              <a:alpha val="88000"/>
            </a:srgbClr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941832"/>
            <a:ext cx="5715000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Python 和 Vue 的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数码电子商城的设计与实现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13432" y="26060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12848" y="3337560"/>
            <a:ext cx="6400800" cy="1170432"/>
          </a:xfrm>
          <a:prstGeom prst="roundRect">
            <a:avLst>
              <a:gd name="adj" fmla="val 3906"/>
            </a:avLst>
          </a:prstGeom>
          <a:solidFill>
            <a:srgbClr val="2E84C9">
              <a:alpha val="92000"/>
            </a:srgbClr>
          </a:solidFill>
          <a:ln w="12700">
            <a:solidFill>
              <a:srgbClr val="6BB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3611880"/>
            <a:ext cx="5394960" cy="7132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答辩同学：张捷  软件工程 2022-3班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指导老师：侯爱民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课题方向：数码电子商城系统设计与实现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课题主要内容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本课题围绕“做一个能完整运行的数码电子商城系统”展开，不只是展示页面，还要把业务流程和活动规则做通。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316736"/>
            <a:ext cx="109728" cy="2926080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1316736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28416" y="1316736"/>
            <a:ext cx="109728" cy="2926080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8464" y="1316736"/>
            <a:ext cx="2487168" cy="292608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316736"/>
            <a:ext cx="109728" cy="2926080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1517904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57734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9584" y="1517904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157734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1517904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57734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9536" y="19019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用户端商城功能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29584" y="19019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营销活动功能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99632" y="19019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后台管理功能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2304288"/>
            <a:ext cx="1874520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完成商品浏览、商品详情、购物车、结算、订单等基础交易流程。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让用户可以从看商品一直走到生成订单。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47872" y="2304288"/>
            <a:ext cx="1874520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实现优惠券、积分、拼团、秒杀等活动能力。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让系统不只是普通下单，还能体现规则差异。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304288"/>
            <a:ext cx="1874520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实现商品、订单、会员、活动配置和数据看板管理。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体现前台展示和后台配置之间的联动关系。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课题目标和意义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225296"/>
            <a:ext cx="373075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81728" y="1225296"/>
            <a:ext cx="3803904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44475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504188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01184" y="144475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504188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7824" y="184708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本课题希望解决的问题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2249424"/>
            <a:ext cx="2926080" cy="164592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让商城系统形成完整购物闭环，不停留在“只能看页面”。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让营销活动规则更清楚，避免不同活动之间逻辑混乱。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让后台管理和前台展示联动起来，体现系统整体性。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184708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做这个系统的实际意义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19472" y="2249424"/>
            <a:ext cx="2926080" cy="164592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把前后端分离的商城开发流程完整跑通。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把用户端、活动模块、后台端放到一个项目中统一实现。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为毕业设计答辩展示一个比较完整的中小型电商系统。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技术简介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1810512" cy="1207008"/>
          </a:xfrm>
          <a:prstGeom prst="roundRect">
            <a:avLst>
              <a:gd name="adj" fmla="val 3788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81328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前端主框架，用于组织页面和交互逻辑。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852928" y="1316736"/>
            <a:ext cx="1810512" cy="1207008"/>
          </a:xfrm>
          <a:prstGeom prst="roundRect">
            <a:avLst>
              <a:gd name="adj" fmla="val 3788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481328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1792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移动端组件库，用于用户商城页面开发。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47488" y="1316736"/>
            <a:ext cx="1810512" cy="1207008"/>
          </a:xfrm>
          <a:prstGeom prst="roundRect">
            <a:avLst>
              <a:gd name="adj" fmla="val 3788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481328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Element Plus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12080" y="1792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后台管理组件库，用于管理端页面开发。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" y="2889504"/>
            <a:ext cx="1810512" cy="1207008"/>
          </a:xfrm>
          <a:prstGeom prst="roundRect">
            <a:avLst>
              <a:gd name="adj" fmla="val 3788"/>
            </a:avLst>
          </a:prstGeom>
          <a:solidFill>
            <a:srgbClr val="FFF0EB"/>
          </a:solidFill>
          <a:ln w="12700">
            <a:solidFill>
              <a:srgbClr val="FFF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54096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79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36499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后端框架，负责接口、业务逻辑和规则校验。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852928" y="2889504"/>
            <a:ext cx="1810512" cy="1207008"/>
          </a:xfrm>
          <a:prstGeom prst="roundRect">
            <a:avLst>
              <a:gd name="adj" fmla="val 3788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054096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SQLAlchemy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17520" y="336499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ORM 工具，用于模型定义和数据库操作。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47488" y="2889504"/>
            <a:ext cx="1810512" cy="1207008"/>
          </a:xfrm>
          <a:prstGeom prst="roundRect">
            <a:avLst>
              <a:gd name="adj" fmla="val 3788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054096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212080" y="336499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关系型数据库，负责业务数据持久化存储。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58368" y="4718304"/>
            <a:ext cx="749808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系统总体架构图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298448"/>
            <a:ext cx="2937782" cy="95108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298448"/>
            <a:ext cx="126811" cy="951081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2439745"/>
            <a:ext cx="2937782" cy="95108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2439745"/>
            <a:ext cx="126811" cy="951081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0" y="3581041"/>
            <a:ext cx="2937782" cy="95108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3581041"/>
            <a:ext cx="126811" cy="951081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9492" y="1573205"/>
            <a:ext cx="2007837" cy="211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39492" y="2576706"/>
            <a:ext cx="2007837" cy="211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服务层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84577" y="3720543"/>
            <a:ext cx="2007837" cy="211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39492" y="1890231"/>
            <a:ext cx="2113512" cy="1690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移动端商城 + PC 后台管理端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59177" y="2926118"/>
            <a:ext cx="2219188" cy="1690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Flask 接口、业务逻辑和规则校验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59177" y="4046460"/>
            <a:ext cx="2272026" cy="2958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统一保存商品、订单、活动等数据</a:t>
            </a:r>
            <a:endParaRPr lang="en-US" sz="1200" dirty="0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1455" y="1169670"/>
            <a:ext cx="5547995" cy="3168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系统总体功能结构图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59552" y="1261872"/>
            <a:ext cx="28529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59552" y="1261872"/>
            <a:ext cx="109728" cy="914400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59552" y="2359152"/>
            <a:ext cx="28529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59552" y="2359152"/>
            <a:ext cx="109728" cy="914400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59552" y="3456432"/>
            <a:ext cx="28529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59552" y="3456432"/>
            <a:ext cx="109728" cy="914400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15584" y="148132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用户端功能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815584" y="257860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营销活动功能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815584" y="3675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后台管理功能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15584" y="1755648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注册登录、首页浏览、商品详情、购物车、结算、订单和个人中心。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15584" y="2852928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优惠券、积分、拼团、秒杀和会员权益等活动规则。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15584" y="3950208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商品管理、订单处理、会员管理、活动配置和数据看板。</a:t>
            </a:r>
            <a:endParaRPr lang="en-US" sz="1200" dirty="0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5765" y="1287780"/>
            <a:ext cx="4917440" cy="331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普通购物流程设计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1243330"/>
            <a:ext cx="2926080" cy="3581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1243330"/>
            <a:ext cx="208915" cy="3550920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42305" y="1499870"/>
            <a:ext cx="2180590" cy="573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流程主线</a:t>
            </a:r>
            <a:endParaRPr lang="en-US" sz="3200" b="1" dirty="0">
              <a:solidFill>
                <a:srgbClr val="1B2E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42432" y="2249297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商品浏览 → 加入购物车 → 选择地址 → 优惠结算 → 支付 → 生成订单</a:t>
            </a:r>
            <a:endParaRPr lang="en-US" sz="2000" dirty="0">
              <a:solidFill>
                <a:srgbClr val="6174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76910" y="841375"/>
            <a:ext cx="4497070" cy="3953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拼团流程设计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1243584"/>
            <a:ext cx="914400" cy="841248"/>
          </a:xfrm>
          <a:prstGeom prst="roundRect">
            <a:avLst>
              <a:gd name="adj" fmla="val 5435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3533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建团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0" y="17190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发起拼团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1243584"/>
            <a:ext cx="914400" cy="841248"/>
          </a:xfrm>
          <a:prstGeom prst="roundRect">
            <a:avLst>
              <a:gd name="adj" fmla="val 5435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3533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75120" y="17190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输入拼团码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89520" y="1243584"/>
            <a:ext cx="914400" cy="841248"/>
          </a:xfrm>
          <a:prstGeom prst="roundRect">
            <a:avLst>
              <a:gd name="adj" fmla="val 5435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13533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成团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680960" y="17190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满足人数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04815" y="2444115"/>
            <a:ext cx="3063240" cy="2026920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04815" y="2414270"/>
            <a:ext cx="128270" cy="2062480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6700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拼团规则说明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760720" y="2980944"/>
            <a:ext cx="2157984" cy="98755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用户可以发起新团，也可以通过拼团码加入别人的团。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后端会判断人数是否达到要求，再决定是否成团。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订单状态会跟着拼团状态一起变化。</a:t>
            </a:r>
            <a:endParaRPr lang="en-US" sz="1250" dirty="0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4625" y="937895"/>
            <a:ext cx="5220335" cy="3898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0EB"/>
          </a:solidFill>
          <a:ln w="12700">
            <a:solidFill>
              <a:srgbClr val="FFF0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秒杀流程设计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1243584"/>
            <a:ext cx="914400" cy="841248"/>
          </a:xfrm>
          <a:prstGeom prst="roundRect">
            <a:avLst>
              <a:gd name="adj" fmla="val 5435"/>
            </a:avLst>
          </a:prstGeom>
          <a:solidFill>
            <a:srgbClr val="FFF0EB"/>
          </a:solidFill>
          <a:ln w="12700">
            <a:solidFill>
              <a:srgbClr val="FFF0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3533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79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0" y="17190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活动时段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1243584"/>
            <a:ext cx="914400" cy="841248"/>
          </a:xfrm>
          <a:prstGeom prst="roundRect">
            <a:avLst>
              <a:gd name="adj" fmla="val 5435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3533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库存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75120" y="17190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活动库存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89520" y="1243584"/>
            <a:ext cx="914400" cy="841248"/>
          </a:xfrm>
          <a:prstGeom prst="roundRect">
            <a:avLst>
              <a:gd name="adj" fmla="val 5435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13533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限购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680960" y="171907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购买限制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04815" y="2414270"/>
            <a:ext cx="2926080" cy="2448560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04815" y="2414270"/>
            <a:ext cx="127000" cy="2439670"/>
          </a:xfrm>
          <a:prstGeom prst="rect">
            <a:avLst/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6700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秒杀规则说明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760720" y="2980944"/>
            <a:ext cx="2157984" cy="98755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秒杀商品下单时要再次判断活动时间、库存和限购数量。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秒杀商品不能和优惠券、积分一起叠加使用。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这样可以避免出现优惠叠加导致金额异常。</a:t>
            </a:r>
            <a:endParaRPr lang="en-US" sz="1400" dirty="0">
              <a:solidFill>
                <a:srgbClr val="22313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1930" y="891540"/>
            <a:ext cx="5156835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后台管理与前后台联动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88720"/>
            <a:ext cx="3950208" cy="3346704"/>
          </a:xfrm>
          <a:prstGeom prst="roundRect">
            <a:avLst>
              <a:gd name="adj" fmla="val 136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188720"/>
            <a:ext cx="109728" cy="3346704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4475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后台端主要负责什么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1773936"/>
            <a:ext cx="3255264" cy="20116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商品管理：维护商品标题、价格、分类、库存和上下架状态。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订单管理：查看订单状态，进行发货等处理。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会员管理：维护用户等级、积分、余额和账号状态。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活动配置：维护优惠券、拼团和秒杀规则。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数据看板：查看销售额、订单量和运营情况。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64608" y="1188720"/>
            <a:ext cx="3621024" cy="1481328"/>
          </a:xfrm>
          <a:prstGeom prst="roundRect">
            <a:avLst>
              <a:gd name="adj" fmla="val 3086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48132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联动关系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38928" y="18288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后台先维护规则，前台再根据接口返回结果动态展示页面内容。活动不是写死在页面里的。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64608" y="2907792"/>
            <a:ext cx="3621024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2907792"/>
            <a:ext cx="109728" cy="1627632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310349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</a:t>
            </a:r>
            <a:endParaRPr lang="zh-CN" altLang="en-US" sz="2400" b="1" dirty="0">
              <a:solidFill>
                <a:srgbClr val="1B2E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38928" y="3474720"/>
            <a:ext cx="2468880" cy="84124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前台负责展示。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后台负责配置。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后端负责校验和联动。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 ER 图设计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42432" y="1243584"/>
            <a:ext cx="2688336" cy="3163824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42432" y="1243584"/>
            <a:ext cx="109728" cy="316382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98464" y="149961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核心实体关系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998464" y="1828800"/>
            <a:ext cx="2011680" cy="20116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用户和地址是一对多关系。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用户和订单是一对多关系。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商品既参与普通购买，也参与拼团和秒杀活动。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优惠券分为系统优惠券和用户已领取优惠券。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拼团队伍实体负责记录拼团码和成团状态。</a:t>
            </a:r>
            <a:endParaRPr lang="en-US" sz="1220" dirty="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1940" y="934720"/>
            <a:ext cx="5314950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系统设计亮点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353312"/>
            <a:ext cx="2487168" cy="28346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28416" y="1353312"/>
            <a:ext cx="2487168" cy="28346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353312"/>
            <a:ext cx="2487168" cy="283464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61872" y="1664208"/>
            <a:ext cx="1371600" cy="841248"/>
          </a:xfrm>
          <a:prstGeom prst="roundRect">
            <a:avLst>
              <a:gd name="adj" fmla="val 5435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177393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53312" y="213969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交易闭环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7056" y="1664208"/>
            <a:ext cx="1371600" cy="841248"/>
          </a:xfrm>
          <a:prstGeom prst="roundRect">
            <a:avLst>
              <a:gd name="adj" fmla="val 5435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177393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68496" y="213969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规则清楚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664208"/>
            <a:ext cx="1371600" cy="841248"/>
          </a:xfrm>
          <a:prstGeom prst="roundRect">
            <a:avLst>
              <a:gd name="adj" fmla="val 5435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7393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亮点 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213969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联动明显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9264" y="2743200"/>
            <a:ext cx="197510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用户可以完成浏览、加购、结算、下单、查看订单这一整条交易流程。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84448" y="2743200"/>
            <a:ext cx="197510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拼团和秒杀规则分开处理，优惠券和积分也能体现不同使用限制。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9632" y="2743200"/>
            <a:ext cx="197510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后台配置活动，前台读取结果，体现出系统不是孤立页面而是整体协同。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系统运行界面：首页 + 商品详情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3978" y="1043178"/>
            <a:ext cx="4138202" cy="3627313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978" y="1043178"/>
            <a:ext cx="4138202" cy="265662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027" y="1109594"/>
            <a:ext cx="3852104" cy="102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01：首页截图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769" y="1472325"/>
            <a:ext cx="3688620" cy="2625970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818" y="2044521"/>
            <a:ext cx="3402522" cy="183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383" y="2351054"/>
            <a:ext cx="3443393" cy="490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建议放首页主界面。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最好能看到轮播图、分类入口、商品列表。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91981" y="1043178"/>
            <a:ext cx="4138202" cy="3627313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1981" y="1043178"/>
            <a:ext cx="4138202" cy="265662"/>
          </a:xfrm>
          <a:prstGeom prst="rect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5030" y="1109594"/>
            <a:ext cx="3852104" cy="102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02：商品详情截图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16772" y="1472325"/>
            <a:ext cx="3688620" cy="2625970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9821" y="2044521"/>
            <a:ext cx="3402522" cy="183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39385" y="2351054"/>
            <a:ext cx="3443393" cy="490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建议放商品详情页。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最好能看到价格、规格、购买按钮等核心区域。</a:t>
            </a:r>
            <a:endParaRPr lang="en-US" sz="1050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915" y="1336040"/>
            <a:ext cx="4138930" cy="32994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92015" y="1336040"/>
            <a:ext cx="4138295" cy="3298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系统运行界面：购物车 + 结算页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5443" y="1073023"/>
            <a:ext cx="4241432" cy="3717799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5443" y="1073023"/>
            <a:ext cx="4241432" cy="272289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060" y="1141095"/>
            <a:ext cx="3948198" cy="1047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03：购物车截图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842" y="1512875"/>
            <a:ext cx="3780635" cy="2691477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459" y="2099345"/>
            <a:ext cx="3487400" cy="188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1514" y="2413525"/>
            <a:ext cx="3529291" cy="50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建议放购物车页面。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最好能看到勾选、数量调整、合计金额。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7905" y="1073150"/>
            <a:ext cx="1784350" cy="3717925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7905" y="1073150"/>
            <a:ext cx="1784985" cy="272415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763" y="1141095"/>
            <a:ext cx="3948198" cy="1047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04：结算页截图</a:t>
            </a:r>
            <a:endParaRPr lang="en-US" sz="1050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570" y="1345565"/>
            <a:ext cx="4210685" cy="343979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27905" y="1345565"/>
            <a:ext cx="1816735" cy="3424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系统运行界面：订单页 + 活动页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210" y="1035558"/>
            <a:ext cx="4312749" cy="3780311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210" y="1035558"/>
            <a:ext cx="4312749" cy="276868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293" y="1104775"/>
            <a:ext cx="4014584" cy="106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05：订单页截图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483" y="1482806"/>
            <a:ext cx="3844204" cy="2736732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566" y="2079137"/>
            <a:ext cx="3546038" cy="1916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7268" y="2398600"/>
            <a:ext cx="3588633" cy="511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建议放订单列表或订单详情页。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最好能体现订单状态变化。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17154" y="1035558"/>
            <a:ext cx="4312749" cy="3780311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7154" y="1035558"/>
            <a:ext cx="4312749" cy="276868"/>
          </a:xfrm>
          <a:prstGeom prst="rect">
            <a:avLst/>
          </a:prstGeom>
          <a:solidFill>
            <a:srgbClr val="D9A64D"/>
          </a:solidFill>
          <a:ln w="12700">
            <a:solidFill>
              <a:srgbClr val="D9A6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6237" y="1104775"/>
            <a:ext cx="4014584" cy="106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06：拼团页</a:t>
            </a:r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</a:t>
            </a: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秒杀页截图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51427" y="1482806"/>
            <a:ext cx="3844204" cy="2736732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0509" y="2079137"/>
            <a:ext cx="3546038" cy="1916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79212" y="2398600"/>
            <a:ext cx="3588633" cy="511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建议放拼团大厅、拼团码页面，或者秒杀活动页。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优先选能看出活动规则的截图。</a:t>
            </a:r>
            <a:endParaRPr lang="en-US" sz="1050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400" y="1312545"/>
            <a:ext cx="4312285" cy="35026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17110" y="1312545"/>
            <a:ext cx="2148840" cy="350266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39280" y="1313815"/>
            <a:ext cx="2182495" cy="3502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350" y="182880"/>
            <a:ext cx="7708265" cy="567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系统运行界面：后台</a:t>
            </a:r>
            <a:r>
              <a:rPr lang="zh-CN" alt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商品配置页</a:t>
            </a: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</a:t>
            </a:r>
            <a:r>
              <a:rPr lang="zh-CN" alt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</a:t>
            </a: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681" y="1034923"/>
            <a:ext cx="4309864" cy="377778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681" y="1034923"/>
            <a:ext cx="4309864" cy="276683"/>
          </a:xfrm>
          <a:prstGeom prst="rect">
            <a:avLst/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664" y="1104094"/>
            <a:ext cx="4011898" cy="106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07：后台</a:t>
            </a: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商品管理页</a:t>
            </a: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7797" y="1481872"/>
            <a:ext cx="3841632" cy="2734901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780" y="2077804"/>
            <a:ext cx="3543666" cy="191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497" y="2397053"/>
            <a:ext cx="3586233" cy="5107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建议放后台看板页。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最好能看到统计卡片、图表或销售数据。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12419" y="1034923"/>
            <a:ext cx="4309864" cy="377778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2419" y="1034923"/>
            <a:ext cx="4309864" cy="276683"/>
          </a:xfrm>
          <a:prstGeom prst="rect">
            <a:avLst/>
          </a:prstGeom>
          <a:solidFill>
            <a:srgbClr val="E57958"/>
          </a:solidFill>
          <a:ln w="12700">
            <a:solidFill>
              <a:srgbClr val="E579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1402" y="1104094"/>
            <a:ext cx="4011898" cy="106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08：</a:t>
            </a:r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</a:t>
            </a: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活动配置页截图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46535" y="1481872"/>
            <a:ext cx="3841632" cy="2734901"/>
          </a:xfrm>
          <a:prstGeom prst="roundRect">
            <a:avLst>
              <a:gd name="adj" fmla="val 1556"/>
            </a:avLst>
          </a:prstGeom>
          <a:solidFill>
            <a:srgbClr val="FBFCFE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5518" y="2077804"/>
            <a:ext cx="3543666" cy="191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这里预留给你的系统运行截图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74235" y="2397053"/>
            <a:ext cx="3586233" cy="5107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建议放后台业务页面。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174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优先选择商品管理、订单管理、拼团配置或秒杀配置。</a:t>
            </a:r>
            <a:endParaRPr lang="en-US" sz="1050" dirty="0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495" y="1311910"/>
            <a:ext cx="4317365" cy="35007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12665" y="1311910"/>
            <a:ext cx="4331335" cy="3521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246888"/>
            <a:ext cx="146304" cy="329184"/>
          </a:xfrm>
          <a:prstGeom prst="rect">
            <a:avLst/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82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E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今后待完善的地方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5008" y="17373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D9B88"/>
          </a:solidFill>
          <a:ln w="12700">
            <a:solidFill>
              <a:srgbClr val="1D9B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5592" y="260604"/>
            <a:ext cx="365760" cy="109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ECF5FC"/>
          </a:solidFill>
          <a:ln w="12700">
            <a:solidFill>
              <a:srgbClr val="ECF5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72768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176C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真实支付接入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1920240"/>
            <a:ext cx="334670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后续可接入真实支付接口，让订单支付流程更完整。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90288" y="1353312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EDF9F5"/>
          </a:solidFill>
          <a:ln w="12700">
            <a:solidFill>
              <a:srgbClr val="EDF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572768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9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真实物流接入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91456" y="1920240"/>
            <a:ext cx="334670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后续可接入物流查询接口，让发货和物流跟踪更真实。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017520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236976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A6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高并发优化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" y="3584448"/>
            <a:ext cx="334670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针对秒杀等场景，可进一步优化并发处理和库存控制。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90288" y="3017520"/>
            <a:ext cx="3840480" cy="1298448"/>
          </a:xfrm>
          <a:prstGeom prst="roundRect">
            <a:avLst>
              <a:gd name="adj" fmla="val 3521"/>
            </a:avLst>
          </a:prstGeom>
          <a:solidFill>
            <a:srgbClr val="FFF0EB"/>
          </a:solidFill>
          <a:ln w="12700">
            <a:solidFill>
              <a:srgbClr val="FFF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3236976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579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推荐与搜索优化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18761" y="3862578"/>
            <a:ext cx="334670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1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后续可继续完善推荐算法、搜索体验和部署能力。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131"/>
          </a:solidFill>
          <a:ln w="12700">
            <a:solidFill>
              <a:srgbClr val="102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685800"/>
            <a:ext cx="3474720" cy="2194560"/>
          </a:xfrm>
          <a:prstGeom prst="ellipse">
            <a:avLst/>
          </a:prstGeom>
          <a:solidFill>
            <a:srgbClr val="25405A">
              <a:alpha val="82000"/>
            </a:srgbClr>
          </a:solidFill>
          <a:ln w="12700">
            <a:solidFill>
              <a:srgbClr val="254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977640"/>
            <a:ext cx="2926080" cy="1645920"/>
          </a:xfrm>
          <a:prstGeom prst="ellipse">
            <a:avLst/>
          </a:prstGeom>
          <a:solidFill>
            <a:srgbClr val="274A67">
              <a:alpha val="90000"/>
            </a:srgbClr>
          </a:solidFill>
          <a:ln w="12700">
            <a:solidFill>
              <a:srgbClr val="274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致谢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77824" y="19659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感谢各位老师聆听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7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恳请各位老师批评指正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999232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FB6C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 For Listening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MTQyOTI0YTgwYzkxYWEyNDkyNjUwYmEwNjIxNTRhYj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2101</Words>
  <Application>WPS 演示</Application>
  <PresentationFormat>On-screen Show (16:9)</PresentationFormat>
  <Paragraphs>317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SmartMall_BiShe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Python 和 Vue 的数码电子商城的设计与实现</dc:title>
  <dc:creator>OpenAI Codex</dc:creator>
  <dc:subject>毕业设计答辩PPT</dc:subject>
  <cp:lastModifiedBy>　　　　　　　 ㅤ</cp:lastModifiedBy>
  <cp:revision>4</cp:revision>
  <dcterms:created xsi:type="dcterms:W3CDTF">2026-04-13T07:40:00Z</dcterms:created>
  <dcterms:modified xsi:type="dcterms:W3CDTF">2026-04-13T08:56:25Z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E4537B3CE309455E8E3564AF92F02D49_12</vt:lpwstr>
  </property>
  <property fmtid="{D5CDD505-2E9C-101B-9397-08002B2CF9AE}" pid="3" name="KSOProductBuildVer">
    <vt:lpwstr>2052-12.1.0.16120</vt:lpwstr>
  </property>
</Properties>
</file>