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0360" y="658368"/>
            <a:ext cx="128016" cy="3154680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5486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126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20848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和 Vue 的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数码电子商城的设计与实现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278892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7F1"/>
                </a:solidFill>
                <a:latin typeface="Microsoft YaHei Light" pitchFamily="34" charset="0"/>
                <a:ea typeface="Microsoft YaHei Light" pitchFamily="34" charset="-122"/>
                <a:cs typeface="Microsoft YaHei Light" pitchFamily="34" charset="-120"/>
              </a:rPr>
              <a:t>围绕完整购物闭环、营销规则联动与前后台协同配置进行设计与实现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0" y="658368"/>
            <a:ext cx="4617720" cy="3218688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41648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毕业论文答辩展示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41648" y="1481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41648" y="19202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人工智能学院 | 软件工程 2022-3班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41648" y="2331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学号：202235020346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41648" y="26517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指导教师：侯爱民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41648" y="2999232"/>
            <a:ext cx="3611880" cy="0"/>
          </a:xfrm>
          <a:prstGeom prst="line">
            <a:avLst/>
          </a:prstGeom>
          <a:noFill/>
          <a:ln w="15240">
            <a:solidFill>
              <a:srgbClr val="C9D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41648" y="32186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答辩时间：2026年4月16日 上午10:30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41648" y="35112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答辩地点：3B411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77316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Digital Electronics Mall Defense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9326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数码电子商城系统不仅需要完成基础交易流程，还需要兼顾营销活动配置与后台运营支撑。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2423160" cy="27432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353312"/>
            <a:ext cx="109728" cy="2743200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353312"/>
            <a:ext cx="2423160" cy="27432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353312"/>
            <a:ext cx="109728" cy="2743200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353312"/>
            <a:ext cx="2423160" cy="27432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1353312"/>
            <a:ext cx="109728" cy="2743200"/>
          </a:xfrm>
          <a:prstGeom prst="rect">
            <a:avLst/>
          </a:prstGeom>
          <a:solidFill>
            <a:srgbClr val="E97D63"/>
          </a:solidFill>
          <a:ln w="12700">
            <a:solidFill>
              <a:srgbClr val="E97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5910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15910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27648" y="15910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" y="1993392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商品种类多、规格差异大，用户购物流程需要更顺畅的页面组织与交互支撑。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0168" y="1993392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传统商城往往更强调基础交易，对优惠券、拼团、秒杀等营销规则协同支持不足。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1993392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后台运营支撑与前台展示联动不强时，活动配置、订单处理和维护成本都会上升。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" y="4343400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DCEFF3"/>
          </a:solidFill>
          <a:ln w="12700">
            <a:solidFill>
              <a:srgbClr val="DCEF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40740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6E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问题导向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研究目标与建设内容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70432"/>
            <a:ext cx="2487168" cy="3108960"/>
          </a:xfrm>
          <a:prstGeom prst="roundRect">
            <a:avLst>
              <a:gd name="adj" fmla="val 2206"/>
            </a:avLst>
          </a:prstGeom>
          <a:solidFill>
            <a:srgbClr val="F7FBFE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28416" y="1170432"/>
            <a:ext cx="2487168" cy="3108960"/>
          </a:xfrm>
          <a:prstGeom prst="roundRect">
            <a:avLst>
              <a:gd name="adj" fmla="val 2206"/>
            </a:avLst>
          </a:prstGeom>
          <a:solidFill>
            <a:srgbClr val="F7FCFA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98464" y="1170432"/>
            <a:ext cx="2487168" cy="3108960"/>
          </a:xfrm>
          <a:prstGeom prst="roundRect">
            <a:avLst>
              <a:gd name="adj" fmla="val 2206"/>
            </a:avLst>
          </a:prstGeom>
          <a:solidFill>
            <a:srgbClr val="FFFBF6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371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356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6E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8728" y="1371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4356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371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4356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A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1792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完整购物闭环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38728" y="1792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营销活动能力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08776" y="1792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前后台协同管理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2212848"/>
            <a:ext cx="19659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实现商品浏览、商品详情、购物车、结算、订单等基础业务流程。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让用户端形成从浏览到交易完成的完整链路。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38728" y="2212848"/>
            <a:ext cx="19659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支持优惠券、积分、拼团、秒杀等典型运营场景。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突出不同商品活动规则下的差异化控制。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08776" y="2212848"/>
            <a:ext cx="196596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后台支持商品管理、订单处理、活动配置与运营维护。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实现前台展示与后台配置之间的动态联动。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77316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系统建设围绕交易闭环、运营能力与协同配置三条主线展开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pic>
        <p:nvPicPr>
          <p:cNvPr id="7" name="Image 0" descr="E:\SmartMall_BiShe\fig3_1_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58368" y="1170432"/>
            <a:ext cx="502920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298448"/>
            <a:ext cx="24688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298448"/>
            <a:ext cx="109728" cy="804672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320" y="2267712"/>
            <a:ext cx="24688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267712"/>
            <a:ext cx="109728" cy="804672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3236976"/>
            <a:ext cx="24688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9320" y="3236976"/>
            <a:ext cx="109728" cy="804672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45352" y="15179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45352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45352" y="3456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45352" y="1783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用户端商城 + 后台管理端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45352" y="27432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接口、业务逻辑与规则校验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45352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持久化支撑商品、订单与活动数据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功能模块总览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pic>
        <p:nvPicPr>
          <p:cNvPr id="7" name="Image 0" descr="E:\SmartMall_BiShe\fig3_2_function_stru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58368" y="1170432"/>
            <a:ext cx="452628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40680" y="1261872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40680" y="1261872"/>
            <a:ext cx="109728" cy="914400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40680" y="23317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40680" y="2331720"/>
            <a:ext cx="109728" cy="914400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40680" y="3401568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40680" y="3401568"/>
            <a:ext cx="109728" cy="914400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96712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用户端功能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696712" y="25511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营销活动功能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96712" y="36210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后台管理功能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696712" y="17556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注册登录、首页浏览、详情查看、购物车、结算与订单。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96712" y="28254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优惠券、积分、拼团、秒杀等活动规则与页面展示。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96712" y="38953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商品、订单、会员、活动配置与运营数据查看。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用户端核心流程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91440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用户端围绕商品浏览、商品详情与加购/下单准备展开，完成购物流程的前半段体验。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2423160" cy="28803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298448"/>
            <a:ext cx="2423160" cy="201168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339596"/>
            <a:ext cx="2167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1627632"/>
            <a:ext cx="2093976" cy="2112264"/>
          </a:xfrm>
          <a:prstGeom prst="roundRect">
            <a:avLst>
              <a:gd name="adj" fmla="val 1747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048256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50976" y="232257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首页或商品列表页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建议保留轮播、分类、商品卡片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2093976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298448"/>
            <a:ext cx="2423160" cy="28803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298448"/>
            <a:ext cx="2423160" cy="201168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339596"/>
            <a:ext cx="2167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9584" y="1627632"/>
            <a:ext cx="2093976" cy="2112264"/>
          </a:xfrm>
          <a:prstGeom prst="roundRect">
            <a:avLst>
              <a:gd name="adj" fmla="val 1747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048256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0" y="232257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建议体现价格、规格、购买入口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29584" y="3886200"/>
            <a:ext cx="2093976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1298448"/>
            <a:ext cx="2423160" cy="28803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298448"/>
            <a:ext cx="2423160" cy="201168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339596"/>
            <a:ext cx="2167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1627632"/>
            <a:ext cx="2093976" cy="2112264"/>
          </a:xfrm>
          <a:prstGeom prst="roundRect">
            <a:avLst>
              <a:gd name="adj" fmla="val 1747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2048256"/>
            <a:ext cx="1801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64224" y="2322576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购物车或结算入口页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建议体现勾选、数量、结算按钮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3886200"/>
            <a:ext cx="2093976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73168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讲述重点：用户可完成浏览、选购与下单准备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订单交易闭环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pic>
        <p:nvPicPr>
          <p:cNvPr id="7" name="Image 0" descr="E:\SmartMall_BiShe\fig4_8_checkout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58368" y="1261872"/>
            <a:ext cx="2240280" cy="160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3063240"/>
            <a:ext cx="2240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3063240"/>
            <a:ext cx="109728" cy="1143000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3273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闭环结论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96112" y="358444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系统不仅完成页面展示，还打通了结算、订单生成、状态流转与后续处理。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1261872"/>
            <a:ext cx="1664208" cy="294436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27248" y="1261872"/>
            <a:ext cx="1664208" cy="201168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55264" y="1303020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591056"/>
            <a:ext cx="1335024" cy="2176272"/>
          </a:xfrm>
          <a:prstGeom prst="roundRect">
            <a:avLst>
              <a:gd name="adj" fmla="val 2740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20116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419856" y="22860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建议体现地址、优惠券、积分等结算元素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91840" y="3913632"/>
            <a:ext cx="133502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84064" y="1261872"/>
            <a:ext cx="1664208" cy="294436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84064" y="1261872"/>
            <a:ext cx="1664208" cy="201168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0" y="1303020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B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48656" y="1591056"/>
            <a:ext cx="1335024" cy="2176272"/>
          </a:xfrm>
          <a:prstGeom prst="roundRect">
            <a:avLst>
              <a:gd name="adj" fmla="val 2740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94960" y="201168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376672" y="22860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建议体现订单号、状态、金额等信息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248656" y="3913632"/>
            <a:ext cx="133502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40880" y="1261872"/>
            <a:ext cx="1444752" cy="2944368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40880" y="1261872"/>
            <a:ext cx="1444752" cy="201168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68896" y="130302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C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205472" y="1591056"/>
            <a:ext cx="1115568" cy="2176272"/>
          </a:xfrm>
          <a:prstGeom prst="roundRect">
            <a:avLst>
              <a:gd name="adj" fmla="val 3279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1776" y="2011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33488" y="2286000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收货/评价/状态页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建议体现状态变化或后续操作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05472" y="3913632"/>
            <a:ext cx="1115568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营销亮点：优惠券与积分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15568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FFF5E8"/>
          </a:solidFill>
          <a:ln w="12700">
            <a:solidFill>
              <a:srgbClr val="FFF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22529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A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8096" y="159105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活动场景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1115568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22529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可叠加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50008" y="159105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优惠能力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22192" y="1115568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22529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E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结算页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931920" y="159105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触发位置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96128" y="1060704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96128" y="1060704"/>
            <a:ext cx="109728" cy="960120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52160" y="15910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普通商品支持优惠券与积分抵扣，能够直观看到优惠结果变化。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58368" y="2304288"/>
            <a:ext cx="3749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2304288"/>
            <a:ext cx="3749040" cy="201168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2345436"/>
            <a:ext cx="3493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2633472"/>
            <a:ext cx="3419856" cy="1426464"/>
          </a:xfrm>
          <a:prstGeom prst="roundRect">
            <a:avLst>
              <a:gd name="adj" fmla="val 2564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05409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50976" y="3328416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普通商品结算页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建议展示优惠券、积分、金额联动变化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206240"/>
            <a:ext cx="3419856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2304288"/>
            <a:ext cx="3749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2304288"/>
            <a:ext cx="3749040" cy="201168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345436"/>
            <a:ext cx="34930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633472"/>
            <a:ext cx="3419856" cy="1426464"/>
          </a:xfrm>
          <a:prstGeom prst="roundRect">
            <a:avLst>
              <a:gd name="adj" fmla="val 2564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305409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74336" y="3328416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优惠结果展示页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建议保留抵扣明细或使用成功状态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4206240"/>
            <a:ext cx="3419856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E97D63"/>
          </a:solidFill>
          <a:ln w="12700">
            <a:solidFill>
              <a:srgbClr val="E97D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营销亮点：秒杀规则差异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E97D63"/>
          </a:solidFill>
          <a:ln w="12700">
            <a:solidFill>
              <a:srgbClr val="E9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8872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444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规则控制逻辑</a:t>
            </a:r>
            <a:endParaRPr lang="en-US" sz="1700" dirty="0"/>
          </a:p>
        </p:txBody>
      </p:sp>
      <p:pic>
        <p:nvPicPr>
          <p:cNvPr id="9" name="Image 0" descr="E:\SmartMall_BiShe\fig4_14_seckill_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877824" y="1792224"/>
            <a:ext cx="2450592" cy="16642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639312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秒杀商品在提交订单时会重点校验活动时间、库存数量与限购条件，并限制优惠券和积分叠加。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3822192" y="1207008"/>
            <a:ext cx="2176272" cy="3200400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22192" y="1207008"/>
            <a:ext cx="2176272" cy="201168"/>
          </a:xfrm>
          <a:prstGeom prst="rect">
            <a:avLst/>
          </a:prstGeom>
          <a:solidFill>
            <a:srgbClr val="E97D63"/>
          </a:solidFill>
          <a:ln w="12700">
            <a:solidFill>
              <a:srgbClr val="E97D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50208" y="1248156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86784" y="1536192"/>
            <a:ext cx="1847088" cy="2432304"/>
          </a:xfrm>
          <a:prstGeom prst="roundRect">
            <a:avLst>
              <a:gd name="adj" fmla="val 1980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33088" y="19568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14800" y="223113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秒杀商品详情页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建议体现倒计时、活动价或限购信息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986784" y="4114800"/>
            <a:ext cx="1847088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207008"/>
            <a:ext cx="2176272" cy="3200400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54496" y="1207008"/>
            <a:ext cx="2176272" cy="201168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1248156"/>
            <a:ext cx="1920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B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19088" y="1536192"/>
            <a:ext cx="1847088" cy="2432304"/>
          </a:xfrm>
          <a:prstGeom prst="roundRect">
            <a:avLst>
              <a:gd name="adj" fmla="val 1980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19568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47104" y="223113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秒杀下单/校验结果页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建议体现不可叠加提示或规则拦截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19088" y="4114800"/>
            <a:ext cx="1847088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后台管理功能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15568"/>
            <a:ext cx="2084832" cy="34564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115568"/>
            <a:ext cx="109728" cy="3456432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后台作用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15544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商品管理：维护商品信息、分类与库存。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订单管理：查看订单状态并进行发货处理。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会员管理：维护用户、积分及优惠券记录。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活动配置：维护秒杀、拼团、优惠券等运营规则。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数据看板：辅助查看运营情况。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063240" y="1207008"/>
            <a:ext cx="1664208" cy="32461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207008"/>
            <a:ext cx="1664208" cy="201168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1248156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536192"/>
            <a:ext cx="1335024" cy="2478024"/>
          </a:xfrm>
          <a:prstGeom prst="roundRect">
            <a:avLst>
              <a:gd name="adj" fmla="val 2740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95681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55848" y="22311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后台商品管理页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建议体现列表、搜索或编辑按钮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7832" y="4160520"/>
            <a:ext cx="133502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207008"/>
            <a:ext cx="1664208" cy="324612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1207008"/>
            <a:ext cx="1664208" cy="201168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1496" y="1248156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48072" y="1536192"/>
            <a:ext cx="1335024" cy="2478024"/>
          </a:xfrm>
          <a:prstGeom prst="roundRect">
            <a:avLst>
              <a:gd name="adj" fmla="val 2740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195681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76088" y="223113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后台订单管理页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建议体现订单状态或发货操作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48072" y="4160520"/>
            <a:ext cx="133502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207008"/>
            <a:ext cx="1572768" cy="32461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207008"/>
            <a:ext cx="1572768" cy="201168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1248156"/>
            <a:ext cx="1316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 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68312" y="1536192"/>
            <a:ext cx="1243584" cy="2478024"/>
          </a:xfrm>
          <a:prstGeom prst="roundRect">
            <a:avLst>
              <a:gd name="adj" fmla="val 2941"/>
            </a:avLst>
          </a:prstGeom>
          <a:solidFill>
            <a:srgbClr val="FBFCFE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195681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替换为你的系统运行截图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96328" y="223113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后台活动配置/看板页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建议体现活动数据或配置能力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68312" y="4160520"/>
            <a:ext cx="124358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数据库与数据支撑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2E8E89"/>
          </a:solidFill>
          <a:ln w="12700">
            <a:solidFill>
              <a:srgbClr val="2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E:\SmartMall_BiShe\fig3_3_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58368" y="1170432"/>
            <a:ext cx="46634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96128" y="1225296"/>
            <a:ext cx="2834640" cy="320040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1481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52160" y="1828800"/>
            <a:ext cx="224028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用户表：存储用户基础信息、积分等数据。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商品表：存储商品名称、价格、库存与分类信息。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订单表：记录下单结果、金额、状态与订单流转。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优惠券相关表：支撑领券、用券与活动配置。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拼团/秒杀相关表：记录活动规则与状态变化。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585216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数据库设计服务于交易流程、活动规则与后台运营支撑，重点体现数据关系完整性。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146304" cy="310896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201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系统测试与运行结果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01000" y="182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2606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17043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801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E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核心交易可运行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33472" y="117043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2801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营销逻辑可校验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53712" y="117043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801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A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16459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运营维护可支撑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73952" y="117043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DEFEA"/>
          </a:solidFill>
          <a:ln w="12700">
            <a:solidFill>
              <a:srgbClr val="FDE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280160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7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16459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1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边界场景可拦截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2395728"/>
            <a:ext cx="382219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2395728"/>
            <a:ext cx="109728" cy="1874520"/>
          </a:xfrm>
          <a:prstGeom prst="rect">
            <a:avLst/>
          </a:prstGeom>
          <a:solidFill>
            <a:srgbClr val="2B6EA6"/>
          </a:solidFill>
          <a:ln w="12700">
            <a:solidFill>
              <a:srgbClr val="2B6E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测试结论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9264" y="2999232"/>
            <a:ext cx="3154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用户可完成浏览、加购、结算、下单与订单查看等核心流程。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营销规则在不同场景下能够正确执行，体现差异化限制。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后台具备基础运营支撑能力。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91456" y="2395728"/>
            <a:ext cx="363931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91456" y="2395728"/>
            <a:ext cx="109728" cy="1874520"/>
          </a:xfrm>
          <a:prstGeom prst="rect">
            <a:avLst/>
          </a:prstGeom>
          <a:solidFill>
            <a:srgbClr val="E97D63"/>
          </a:solidFill>
          <a:ln w="12700">
            <a:solidFill>
              <a:srgbClr val="E97D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异常场景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47488" y="2999232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库存不足、活动过期、重复领券、超出限购等情况能够给出合理提示。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1F2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说明系统在演示功能之外，也具备基本的边界校验能力。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640080"/>
            <a:ext cx="8083296" cy="3822192"/>
          </a:xfrm>
          <a:prstGeom prst="rect">
            <a:avLst/>
          </a:prstGeom>
          <a:solidFill>
            <a:srgbClr val="0E2130"/>
          </a:solidFill>
          <a:ln w="12700">
            <a:solidFill>
              <a:srgbClr val="2743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896112"/>
            <a:ext cx="146304" cy="365760"/>
          </a:xfrm>
          <a:prstGeom prst="rect">
            <a:avLst/>
          </a:prstGeom>
          <a:solidFill>
            <a:srgbClr val="D7AE54"/>
          </a:solidFill>
          <a:ln w="12700">
            <a:solidFill>
              <a:srgbClr val="D7AE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8412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77824" y="1627632"/>
            <a:ext cx="3584448" cy="1783080"/>
          </a:xfrm>
          <a:prstGeom prst="roundRect">
            <a:avLst>
              <a:gd name="adj" fmla="val 3077"/>
            </a:avLst>
          </a:prstGeom>
          <a:solidFill>
            <a:srgbClr val="132A3B"/>
          </a:solidFill>
          <a:ln w="12700">
            <a:solidFill>
              <a:srgbClr val="2648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1728" y="1627632"/>
            <a:ext cx="3584448" cy="1783080"/>
          </a:xfrm>
          <a:prstGeom prst="roundRect">
            <a:avLst>
              <a:gd name="adj" fmla="val 3077"/>
            </a:avLst>
          </a:prstGeom>
          <a:solidFill>
            <a:srgbClr val="132A3B"/>
          </a:solidFill>
          <a:ln w="12700">
            <a:solidFill>
              <a:srgbClr val="2648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8836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19472" y="18836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15568" y="2212848"/>
            <a:ext cx="285292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系统已实现数码电子商城的核心业务功能，覆盖用户端、后台端和后端服务。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在基础交易流程之外，系统进一步支持营销活动与后台联动能力。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19472" y="2212848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后续可进一步接入真实支付与物流服务，提升系统完整性。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CE7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可继续结合推荐算法与性能优化提升系统体验。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40416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4041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EB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SmartMall_BiShe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Python 和 Vue 的数码电子商城的设计与实现</dc:title>
  <dc:subject>毕业答辩PPT</dc:subject>
  <dc:creator>OpenAI Codex</dc:creator>
  <cp:lastModifiedBy>OpenAI Codex</cp:lastModifiedBy>
  <cp:revision>1</cp:revision>
  <dcterms:created xsi:type="dcterms:W3CDTF">2026-04-12T08:00:27Z</dcterms:created>
  <dcterms:modified xsi:type="dcterms:W3CDTF">2026-04-12T08:00:27Z</dcterms:modified>
</cp:coreProperties>
</file>